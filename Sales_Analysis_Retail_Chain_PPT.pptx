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62" r:id="rId11"/>
    <p:sldId id="263" r:id="rId12"/>
    <p:sldId id="270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6448" y="1181686"/>
            <a:ext cx="7851648" cy="1828800"/>
          </a:xfrm>
        </p:spPr>
        <p:txBody>
          <a:bodyPr>
            <a:noAutofit/>
          </a:bodyPr>
          <a:lstStyle/>
          <a:p>
            <a:pPr algn="ctr"/>
            <a:r>
              <a:rPr sz="4800" b="0">
                <a:latin typeface="+mn-lt"/>
              </a:rPr>
              <a:t>Sales Analysis and Reporting for a Retail 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448" y="3756074"/>
            <a:ext cx="7854696" cy="2201593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1800" dirty="0" err="1" smtClean="0">
                <a:ea typeface="Arial Unicode MS" pitchFamily="34" charset="-128"/>
                <a:cs typeface="Arial Unicode MS" pitchFamily="34" charset="-128"/>
              </a:rPr>
              <a:t>Vaishnavi</a:t>
            </a:r>
            <a:r>
              <a:rPr lang="en-US" sz="1800" dirty="0" smtClean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800" dirty="0" err="1" smtClean="0">
                <a:ea typeface="Arial Unicode MS" pitchFamily="34" charset="-128"/>
                <a:cs typeface="Arial Unicode MS" pitchFamily="34" charset="-128"/>
              </a:rPr>
              <a:t>Desale</a:t>
            </a:r>
            <a:endParaRPr lang="en-US" sz="1800" dirty="0" smtClean="0">
              <a:ea typeface="Arial Unicode MS" pitchFamily="34" charset="-128"/>
              <a:cs typeface="Arial Unicode MS" pitchFamily="34" charset="-128"/>
            </a:endParaRPr>
          </a:p>
          <a:p>
            <a:r>
              <a:rPr sz="1800" smtClean="0">
                <a:ea typeface="Arial Unicode MS" pitchFamily="34" charset="-128"/>
                <a:cs typeface="Arial Unicode MS" pitchFamily="34" charset="-128"/>
              </a:rPr>
              <a:t>B</a:t>
            </a:r>
            <a:r>
              <a:rPr lang="en-US" sz="1800" dirty="0" smtClean="0">
                <a:ea typeface="Arial Unicode MS" pitchFamily="34" charset="-128"/>
                <a:cs typeface="Arial Unicode MS" pitchFamily="34" charset="-128"/>
              </a:rPr>
              <a:t>sc</a:t>
            </a:r>
            <a:r>
              <a:rPr sz="1800" smtClean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sz="1800">
                <a:ea typeface="Arial Unicode MS" pitchFamily="34" charset="-128"/>
                <a:cs typeface="Arial Unicode MS" pitchFamily="34" charset="-128"/>
              </a:rPr>
              <a:t>Computer Science – 3rd Year</a:t>
            </a:r>
          </a:p>
          <a:p>
            <a:r>
              <a:rPr sz="1800">
                <a:ea typeface="Arial Unicode MS" pitchFamily="34" charset="-128"/>
                <a:cs typeface="Arial Unicode MS" pitchFamily="34" charset="-128"/>
              </a:rPr>
              <a:t>Kavayitri Bahinabai Chaudhari North Maharashtra University, Jalgaon</a:t>
            </a:r>
          </a:p>
          <a:p>
            <a:r>
              <a:rPr sz="1800">
                <a:ea typeface="Arial Unicode MS" pitchFamily="34" charset="-128"/>
                <a:cs typeface="Arial Unicode MS" pitchFamily="34" charset="-128"/>
              </a:rPr>
              <a:t>Internship Studio</a:t>
            </a:r>
          </a:p>
          <a:p>
            <a:r>
              <a:rPr sz="1800">
                <a:ea typeface="Arial Unicode MS" pitchFamily="34" charset="-128"/>
                <a:cs typeface="Arial Unicode MS" pitchFamily="34" charset="-128"/>
              </a:rPr>
              <a:t>Submission Date: </a:t>
            </a:r>
            <a:r>
              <a:rPr sz="1800" smtClean="0"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 sz="1800" dirty="0" smtClean="0">
                <a:ea typeface="Arial Unicode MS" pitchFamily="34" charset="-128"/>
                <a:cs typeface="Arial Unicode MS" pitchFamily="34" charset="-128"/>
              </a:rPr>
              <a:t>6</a:t>
            </a:r>
            <a:r>
              <a:rPr sz="1800" smtClean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sz="1800">
                <a:ea typeface="Arial Unicode MS" pitchFamily="34" charset="-128"/>
                <a:cs typeface="Arial Unicode MS" pitchFamily="34" charset="-128"/>
              </a:rP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418" y="704088"/>
            <a:ext cx="8229600" cy="1143000"/>
          </a:xfrm>
        </p:spPr>
        <p:txBody>
          <a:bodyPr>
            <a:normAutofit/>
          </a:bodyPr>
          <a:lstStyle/>
          <a:p>
            <a:r>
              <a:rPr sz="4800">
                <a:latin typeface="+mn-lt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418" y="1847088"/>
            <a:ext cx="8229600" cy="4389120"/>
          </a:xfrm>
          <a:noFill/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1800"/>
            </a:pPr>
            <a:r>
              <a:rPr sz="2400" smtClean="0">
                <a:latin typeface="Calisto MT" pitchFamily="18" charset="0"/>
                <a:cs typeface="Arial" pitchFamily="34" charset="0"/>
              </a:rPr>
              <a:t>Calculate </a:t>
            </a:r>
            <a:r>
              <a:rPr sz="2400">
                <a:latin typeface="Calisto MT" pitchFamily="18" charset="0"/>
                <a:cs typeface="Arial" pitchFamily="34" charset="0"/>
              </a:rPr>
              <a:t>revenue and key </a:t>
            </a:r>
            <a:r>
              <a:rPr sz="2400" smtClean="0">
                <a:latin typeface="Calisto MT" pitchFamily="18" charset="0"/>
                <a:cs typeface="Arial" pitchFamily="34" charset="0"/>
              </a:rPr>
              <a:t>metrics</a:t>
            </a:r>
            <a:endParaRPr lang="en-US" sz="2400" dirty="0" smtClean="0">
              <a:latin typeface="Calisto MT" pitchFamily="18" charset="0"/>
              <a:cs typeface="Arial" pitchFamily="34" charset="0"/>
            </a:endParaRPr>
          </a:p>
          <a:p>
            <a:pPr>
              <a:defRPr sz="1800"/>
            </a:pPr>
            <a:endParaRPr lang="en-US" sz="2400" dirty="0" smtClean="0">
              <a:latin typeface="Calisto MT" pitchFamily="18" charset="0"/>
              <a:cs typeface="Arial" pitchFamily="34" charset="0"/>
            </a:endParaRPr>
          </a:p>
          <a:p>
            <a:pPr>
              <a:defRPr sz="1800"/>
            </a:pPr>
            <a:r>
              <a:rPr lang="en-US" sz="2400" dirty="0" smtClean="0">
                <a:latin typeface="Calisto MT" pitchFamily="18" charset="0"/>
                <a:cs typeface="Arial" pitchFamily="34" charset="0"/>
              </a:rPr>
              <a:t>Analysis Performed on 125,000 Retail Transactions Using SQL, Python and Excel.</a:t>
            </a:r>
          </a:p>
          <a:p>
            <a:pPr>
              <a:defRPr sz="1800"/>
            </a:pPr>
            <a:endParaRPr sz="2400">
              <a:latin typeface="Calisto MT" pitchFamily="18" charset="0"/>
              <a:cs typeface="Arial" pitchFamily="34" charset="0"/>
            </a:endParaRPr>
          </a:p>
          <a:p>
            <a:pPr>
              <a:defRPr sz="1800"/>
            </a:pPr>
            <a:r>
              <a:rPr lang="en-US" sz="2400" dirty="0" smtClean="0">
                <a:latin typeface="Calisto MT" pitchFamily="18" charset="0"/>
                <a:cs typeface="Arial" pitchFamily="34" charset="0"/>
              </a:rPr>
              <a:t>Identify sales trends over time</a:t>
            </a:r>
          </a:p>
          <a:p>
            <a:pPr>
              <a:defRPr sz="1800"/>
            </a:pPr>
            <a:endParaRPr lang="en-US" sz="2400" dirty="0" smtClean="0">
              <a:latin typeface="Calisto MT" pitchFamily="18" charset="0"/>
              <a:cs typeface="Arial" pitchFamily="34" charset="0"/>
            </a:endParaRPr>
          </a:p>
          <a:p>
            <a:pPr>
              <a:defRPr sz="1800"/>
            </a:pPr>
            <a:r>
              <a:rPr sz="2400" smtClean="0">
                <a:latin typeface="Calisto MT" pitchFamily="18" charset="0"/>
                <a:cs typeface="Arial" pitchFamily="34" charset="0"/>
              </a:rPr>
              <a:t>Visualize </a:t>
            </a:r>
            <a:r>
              <a:rPr sz="2400">
                <a:latin typeface="Calisto MT" pitchFamily="18" charset="0"/>
                <a:cs typeface="Arial" pitchFamily="34" charset="0"/>
              </a:rPr>
              <a:t>trends with charts and </a:t>
            </a:r>
            <a:r>
              <a:rPr sz="2400" smtClean="0">
                <a:latin typeface="Calisto MT" pitchFamily="18" charset="0"/>
                <a:cs typeface="Arial" pitchFamily="34" charset="0"/>
              </a:rPr>
              <a:t>dashboards</a:t>
            </a:r>
            <a:endParaRPr lang="en-US" sz="2400" dirty="0" smtClean="0">
              <a:latin typeface="Calisto MT" pitchFamily="18" charset="0"/>
              <a:cs typeface="Arial" pitchFamily="34" charset="0"/>
            </a:endParaRPr>
          </a:p>
          <a:p>
            <a:pPr>
              <a:defRPr sz="1800"/>
            </a:pPr>
            <a:endParaRPr sz="2400">
              <a:latin typeface="Calisto MT" pitchFamily="18" charset="0"/>
              <a:cs typeface="Arial" pitchFamily="34" charset="0"/>
            </a:endParaRPr>
          </a:p>
          <a:p>
            <a:pPr>
              <a:defRPr sz="1800"/>
            </a:pPr>
            <a:r>
              <a:rPr sz="2400">
                <a:latin typeface="Calisto MT" pitchFamily="18" charset="0"/>
                <a:cs typeface="Arial" pitchFamily="34" charset="0"/>
              </a:rPr>
              <a:t>Summarize results for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249" y="704088"/>
            <a:ext cx="8229600" cy="1143000"/>
          </a:xfrm>
        </p:spPr>
        <p:txBody>
          <a:bodyPr/>
          <a:lstStyle/>
          <a:p>
            <a:r>
              <a:rPr>
                <a:latin typeface="+mn-lt"/>
              </a:rPr>
              <a:t>Data</a:t>
            </a:r>
            <a:r>
              <a:t> </a:t>
            </a:r>
            <a:r>
              <a:rPr>
                <a:latin typeface="+mn-lt"/>
              </a:rPr>
              <a:t>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2152357"/>
            <a:ext cx="8229600" cy="4389120"/>
          </a:xfrm>
        </p:spPr>
        <p:txBody>
          <a:bodyPr>
            <a:normAutofit/>
          </a:bodyPr>
          <a:lstStyle/>
          <a:p>
            <a:r>
              <a:rPr sz="2400" smtClean="0"/>
              <a:t>Dataset</a:t>
            </a:r>
            <a:r>
              <a:rPr lang="en-US" sz="2400" dirty="0" smtClean="0"/>
              <a:t>: Retail Transaction  Data From </a:t>
            </a:r>
            <a:r>
              <a:rPr lang="en-US" sz="2400" dirty="0" err="1" smtClean="0"/>
              <a:t>Kaggle</a:t>
            </a:r>
            <a:endParaRPr lang="en-US" sz="2400" dirty="0" smtClean="0"/>
          </a:p>
          <a:p>
            <a:endParaRPr sz="2400"/>
          </a:p>
          <a:p>
            <a:r>
              <a:rPr sz="2400"/>
              <a:t>Fields: TransactionID, TransactionTime, ItemCode, ItemDescription, NumberOfItemsPurchased, CostPerItem, </a:t>
            </a:r>
            <a:r>
              <a:rPr sz="2400" smtClean="0"/>
              <a:t>Country</a:t>
            </a:r>
            <a:endParaRPr lang="en-US" sz="2400" dirty="0" smtClean="0"/>
          </a:p>
          <a:p>
            <a:endParaRPr sz="2400"/>
          </a:p>
          <a:p>
            <a:r>
              <a:rPr sz="2400"/>
              <a:t>Dataset link: https://www.kaggle.com/regivm/retailtransactiondata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17" y="970671"/>
            <a:ext cx="8229600" cy="1143000"/>
          </a:xfrm>
        </p:spPr>
        <p:txBody>
          <a:bodyPr>
            <a:noAutofit/>
          </a:bodyPr>
          <a:lstStyle/>
          <a:p>
            <a:r>
              <a:rPr sz="4000" b="1">
                <a:latin typeface="+mn-lt"/>
              </a:rPr>
              <a:t>Phase 1: Data Collection</a:t>
            </a:r>
            <a:r>
              <a:rPr sz="4000">
                <a:latin typeface="+mn-lt"/>
              </a:rPr>
              <a:t> &amp; </a:t>
            </a:r>
            <a:r>
              <a:rPr sz="4000" b="1">
                <a:latin typeface="+mn-lt"/>
              </a:rPr>
              <a:t>Database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17" y="2113671"/>
            <a:ext cx="8229600" cy="4389120"/>
          </a:xfrm>
        </p:spPr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1800"/>
            </a:pPr>
            <a:r>
              <a:rPr sz="2400"/>
              <a:t>Data Collection: Downloaded CSV from </a:t>
            </a:r>
            <a:r>
              <a:rPr sz="2400" smtClean="0"/>
              <a:t>Kaggle</a:t>
            </a:r>
            <a:endParaRPr lang="en-US" sz="2400" dirty="0" smtClean="0"/>
          </a:p>
          <a:p>
            <a:pPr>
              <a:buNone/>
              <a:defRPr sz="1800"/>
            </a:pPr>
            <a:endParaRPr sz="2400"/>
          </a:p>
          <a:p>
            <a:pPr>
              <a:defRPr sz="1800"/>
            </a:pPr>
            <a:r>
              <a:rPr sz="2400"/>
              <a:t>Database Used: </a:t>
            </a:r>
            <a:r>
              <a:rPr sz="2400" smtClean="0"/>
              <a:t>MySQL</a:t>
            </a:r>
            <a:endParaRPr lang="en-US" sz="2400" dirty="0" smtClean="0"/>
          </a:p>
          <a:p>
            <a:pPr>
              <a:defRPr sz="1800"/>
            </a:pPr>
            <a:endParaRPr sz="2400"/>
          </a:p>
          <a:p>
            <a:pPr>
              <a:defRPr sz="1800"/>
            </a:pPr>
            <a:r>
              <a:rPr sz="2400"/>
              <a:t>Database schema created and tables set </a:t>
            </a:r>
            <a:r>
              <a:rPr sz="2400" smtClean="0"/>
              <a:t>up</a:t>
            </a:r>
            <a:endParaRPr lang="en-US" sz="2400" dirty="0" smtClean="0"/>
          </a:p>
          <a:p>
            <a:pPr>
              <a:defRPr sz="1800"/>
            </a:pPr>
            <a:endParaRPr lang="en-US" sz="2400" dirty="0" smtClean="0"/>
          </a:p>
          <a:p>
            <a:r>
              <a:rPr lang="en-US" sz="2400" dirty="0" smtClean="0"/>
              <a:t>Designed relational tables for transactions and customer responses</a:t>
            </a:r>
          </a:p>
          <a:p>
            <a:endParaRPr lang="en-US" sz="2400" dirty="0" smtClean="0"/>
          </a:p>
          <a:p>
            <a:r>
              <a:rPr lang="en-US" sz="2400" dirty="0" smtClean="0"/>
              <a:t>Imported large CSV files into </a:t>
            </a:r>
            <a:r>
              <a:rPr lang="en-US" sz="2400" dirty="0" err="1" smtClean="0"/>
              <a:t>MySQL</a:t>
            </a:r>
            <a:r>
              <a:rPr lang="en-US" sz="2400" dirty="0" smtClean="0"/>
              <a:t> using secure-file configuration</a:t>
            </a:r>
          </a:p>
          <a:p>
            <a:pPr>
              <a:buNone/>
              <a:defRPr sz="1800"/>
            </a:pPr>
            <a:endParaRPr sz="2400"/>
          </a:p>
          <a:p>
            <a:pPr>
              <a:defRPr sz="1800"/>
            </a:pPr>
            <a:r>
              <a:rPr sz="2400"/>
              <a:t>Data imported from CSV into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283" y="984738"/>
            <a:ext cx="8229600" cy="1143000"/>
          </a:xfrm>
        </p:spPr>
        <p:txBody>
          <a:bodyPr>
            <a:noAutofit/>
          </a:bodyPr>
          <a:lstStyle/>
          <a:p>
            <a:r>
              <a:rPr sz="4400">
                <a:latin typeface="+mn-lt"/>
              </a:rPr>
              <a:t>Phase 2: 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35480"/>
            <a:ext cx="8229600" cy="4389120"/>
          </a:xfrm>
        </p:spPr>
        <p:txBody>
          <a:bodyPr>
            <a:normAutofit fontScale="92500"/>
          </a:bodyPr>
          <a:lstStyle/>
          <a:p>
            <a:endParaRPr/>
          </a:p>
          <a:p>
            <a:pPr>
              <a:defRPr sz="1800"/>
            </a:pPr>
            <a:r>
              <a:rPr sz="2400"/>
              <a:t>Tools Used: SQL (MySQL), Python (Pandas), </a:t>
            </a:r>
            <a:r>
              <a:rPr sz="2400" smtClean="0"/>
              <a:t>Excel</a:t>
            </a:r>
            <a:endParaRPr sz="2400"/>
          </a:p>
          <a:p>
            <a:pPr>
              <a:defRPr sz="1800"/>
            </a:pPr>
            <a:r>
              <a:rPr sz="2400"/>
              <a:t>Removed missing and inconsistent </a:t>
            </a:r>
            <a:r>
              <a:rPr sz="2400" smtClean="0"/>
              <a:t>data</a:t>
            </a:r>
            <a:endParaRPr sz="2400"/>
          </a:p>
          <a:p>
            <a:pPr>
              <a:defRPr sz="1800"/>
            </a:pPr>
            <a:r>
              <a:rPr sz="2400"/>
              <a:t>Corrected data types and handled </a:t>
            </a:r>
            <a:r>
              <a:rPr sz="2400" smtClean="0"/>
              <a:t>outliers</a:t>
            </a:r>
            <a:endParaRPr sz="2400"/>
          </a:p>
          <a:p>
            <a:pPr>
              <a:defRPr sz="1800"/>
            </a:pPr>
            <a:r>
              <a:rPr sz="2400"/>
              <a:t>Added calculated fields (total sales) and month/year </a:t>
            </a:r>
            <a:r>
              <a:rPr sz="2400" smtClean="0"/>
              <a:t>field</a:t>
            </a:r>
            <a:r>
              <a:rPr lang="en-US" sz="2400" dirty="0" smtClean="0"/>
              <a:t>s</a:t>
            </a:r>
          </a:p>
          <a:p>
            <a:r>
              <a:rPr lang="en-US" sz="2400" dirty="0" smtClean="0"/>
              <a:t>Removed </a:t>
            </a:r>
            <a:r>
              <a:rPr lang="en-US" sz="2400" b="1" dirty="0" smtClean="0"/>
              <a:t>31 missing records</a:t>
            </a:r>
            <a:r>
              <a:rPr lang="en-US" sz="2400" dirty="0" smtClean="0"/>
              <a:t> using </a:t>
            </a:r>
            <a:r>
              <a:rPr lang="en-US" sz="2400" dirty="0" err="1" smtClean="0"/>
              <a:t>dropna</a:t>
            </a:r>
            <a:r>
              <a:rPr lang="en-US" sz="2400" dirty="0" smtClean="0"/>
              <a:t>()</a:t>
            </a:r>
          </a:p>
          <a:p>
            <a:r>
              <a:rPr lang="en-US" sz="2400" dirty="0" smtClean="0"/>
              <a:t>Converted date fields to </a:t>
            </a:r>
            <a:r>
              <a:rPr lang="en-US" sz="2400" dirty="0" err="1" smtClean="0"/>
              <a:t>datetime</a:t>
            </a:r>
            <a:r>
              <a:rPr lang="en-US" sz="2400" dirty="0" smtClean="0"/>
              <a:t> format</a:t>
            </a:r>
          </a:p>
          <a:p>
            <a:r>
              <a:rPr lang="en-US" sz="2400" dirty="0" smtClean="0"/>
              <a:t>Created </a:t>
            </a:r>
            <a:r>
              <a:rPr lang="en-US" sz="2400" b="1" dirty="0" smtClean="0"/>
              <a:t>Month</a:t>
            </a:r>
            <a:r>
              <a:rPr lang="en-US" sz="2400" dirty="0" smtClean="0"/>
              <a:t> and </a:t>
            </a:r>
            <a:r>
              <a:rPr lang="en-US" sz="2400" b="1" dirty="0" smtClean="0"/>
              <a:t>Month-Year</a:t>
            </a:r>
            <a:r>
              <a:rPr lang="en-US" sz="2400" dirty="0" smtClean="0"/>
              <a:t> features</a:t>
            </a:r>
          </a:p>
          <a:p>
            <a:r>
              <a:rPr lang="en-US" sz="2400" dirty="0" smtClean="0"/>
              <a:t>Validated data types and ranges using describe()</a:t>
            </a:r>
          </a:p>
          <a:p>
            <a:r>
              <a:rPr lang="en-US" sz="2400" dirty="0" smtClean="0"/>
              <a:t>Checked outliers using </a:t>
            </a:r>
            <a:r>
              <a:rPr lang="en-US" sz="2400" b="1" dirty="0" smtClean="0"/>
              <a:t>Z-score (no extreme outliers found)</a:t>
            </a:r>
            <a:endParaRPr lang="en-US" sz="2400" dirty="0" smtClean="0"/>
          </a:p>
          <a:p>
            <a:pPr>
              <a:defRPr sz="1800"/>
            </a:pP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>
                <a:latin typeface="+mn-lt"/>
              </a:rPr>
              <a:t>Phase 3: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35480"/>
            <a:ext cx="8229600" cy="4389120"/>
          </a:xfrm>
        </p:spPr>
        <p:txBody>
          <a:bodyPr/>
          <a:lstStyle/>
          <a:p>
            <a:pPr marL="514350" indent="-514350">
              <a:buNone/>
            </a:pPr>
            <a:r>
              <a:rPr lang="en-US" sz="3600" b="1" dirty="0" smtClean="0"/>
              <a:t>1</a:t>
            </a:r>
            <a:r>
              <a:rPr lang="en-US" sz="2800" b="1" dirty="0" smtClean="0"/>
              <a:t>  Descriptive &amp; Sales Analysis</a:t>
            </a:r>
          </a:p>
          <a:p>
            <a:pPr marL="514350" indent="-514350">
              <a:buNone/>
            </a:pPr>
            <a:endParaRPr lang="en-US" dirty="0" smtClean="0"/>
          </a:p>
          <a:p>
            <a:r>
              <a:rPr lang="en-US" dirty="0" smtClean="0"/>
              <a:t>Monthly sales aggregation using </a:t>
            </a:r>
            <a:r>
              <a:rPr lang="en-US" dirty="0" err="1" smtClean="0"/>
              <a:t>groupby</a:t>
            </a:r>
            <a:r>
              <a:rPr lang="en-US" dirty="0" smtClean="0"/>
              <a:t>()</a:t>
            </a:r>
          </a:p>
          <a:p>
            <a:r>
              <a:rPr lang="en-US" dirty="0" smtClean="0"/>
              <a:t>Top 3 highest revenue months:</a:t>
            </a:r>
          </a:p>
          <a:p>
            <a:pPr lvl="1"/>
            <a:r>
              <a:rPr lang="en-US" b="1" dirty="0" smtClean="0"/>
              <a:t>February</a:t>
            </a:r>
            <a:endParaRPr lang="en-US" dirty="0" smtClean="0"/>
          </a:p>
          <a:p>
            <a:pPr lvl="1"/>
            <a:r>
              <a:rPr lang="en-US" b="1" dirty="0" smtClean="0"/>
              <a:t>October</a:t>
            </a:r>
            <a:endParaRPr lang="en-US" dirty="0" smtClean="0"/>
          </a:p>
          <a:p>
            <a:pPr lvl="1"/>
            <a:r>
              <a:rPr lang="en-US" b="1" dirty="0" smtClean="0"/>
              <a:t>January</a:t>
            </a:r>
            <a:endParaRPr lang="en-US" dirty="0" smtClean="0"/>
          </a:p>
          <a:p>
            <a:r>
              <a:rPr lang="en-US" dirty="0" smtClean="0"/>
              <a:t>Peak monthly sales ≈ </a:t>
            </a:r>
            <a:r>
              <a:rPr lang="en-US" b="1" dirty="0" smtClean="0"/>
              <a:t>726,775</a:t>
            </a:r>
            <a:endParaRPr lang="en-US" dirty="0" smtClean="0"/>
          </a:p>
          <a:p>
            <a:pPr>
              <a:buNone/>
              <a:defRPr sz="1800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17" y="1463040"/>
            <a:ext cx="8229600" cy="4389120"/>
          </a:xfrm>
        </p:spPr>
        <p:txBody>
          <a:bodyPr/>
          <a:lstStyle/>
          <a:p>
            <a:pPr marL="514350" indent="-514350">
              <a:buNone/>
            </a:pPr>
            <a:r>
              <a:rPr lang="en-US" sz="2800" b="1" dirty="0" smtClean="0"/>
              <a:t>    </a:t>
            </a:r>
            <a:r>
              <a:rPr lang="en-US" sz="3600" b="1" dirty="0" smtClean="0"/>
              <a:t> 2  </a:t>
            </a:r>
            <a:r>
              <a:rPr lang="en-US" sz="2800" b="1" dirty="0" smtClean="0"/>
              <a:t>Customer Analysis</a:t>
            </a:r>
          </a:p>
          <a:p>
            <a:pPr marL="514350" indent="-514350">
              <a:buNone/>
            </a:pPr>
            <a:endParaRPr lang="en-US" dirty="0" smtClean="0"/>
          </a:p>
          <a:p>
            <a:r>
              <a:rPr lang="en-US" dirty="0" smtClean="0"/>
              <a:t>   Top customers by number of transactions:</a:t>
            </a:r>
          </a:p>
          <a:p>
            <a:pPr>
              <a:buNone/>
            </a:pPr>
            <a:r>
              <a:rPr lang="en-US" dirty="0" smtClean="0"/>
              <a:t>          CS4424, CS4320, CS3799</a:t>
            </a:r>
          </a:p>
          <a:p>
            <a:r>
              <a:rPr lang="en-US" dirty="0" smtClean="0"/>
              <a:t>   Top customers by total sales value:</a:t>
            </a:r>
          </a:p>
          <a:p>
            <a:pPr lvl="1">
              <a:buNone/>
            </a:pPr>
            <a:r>
              <a:rPr lang="en-US" dirty="0" smtClean="0"/>
              <a:t>   CS4424 ≈ 2933</a:t>
            </a:r>
          </a:p>
          <a:p>
            <a:pPr lvl="1">
              <a:buNone/>
            </a:pPr>
            <a:r>
              <a:rPr lang="en-US" dirty="0" smtClean="0"/>
              <a:t>   CS4320 ≈ 2647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264" y="249702"/>
            <a:ext cx="8039686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+mn-lt"/>
              </a:rPr>
              <a:t>Advanced Analytics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5369"/>
            <a:ext cx="8229600" cy="43891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 </a:t>
            </a:r>
            <a:r>
              <a:rPr lang="en-US" sz="2000" dirty="0" smtClean="0"/>
              <a:t>Performed </a:t>
            </a:r>
            <a:r>
              <a:rPr lang="en-US" sz="2000" dirty="0" smtClean="0"/>
              <a:t>RFM (</a:t>
            </a:r>
            <a:r>
              <a:rPr lang="en-US" sz="2000" dirty="0" err="1" smtClean="0"/>
              <a:t>Recency</a:t>
            </a:r>
            <a:r>
              <a:rPr lang="en-US" sz="2000" dirty="0" smtClean="0"/>
              <a:t>, </a:t>
            </a:r>
            <a:r>
              <a:rPr lang="en-US" sz="2000" dirty="0" smtClean="0"/>
              <a:t>Frequency, Monetary) </a:t>
            </a:r>
            <a:r>
              <a:rPr lang="en-US" sz="2000" dirty="0" smtClean="0"/>
              <a:t> customer  segmentation.</a:t>
            </a:r>
            <a:endParaRPr lang="en-US" sz="2000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 descr="re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64" y="2433711"/>
            <a:ext cx="6879101" cy="3362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09822" y="6024489"/>
            <a:ext cx="603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RFM analysis helps identify loyal and high-value customers for </a:t>
            </a:r>
            <a:r>
              <a:rPr lang="en-US" dirty="0" smtClean="0"/>
              <a:t> focused </a:t>
            </a:r>
            <a:r>
              <a:rPr lang="en-US" dirty="0" smtClean="0"/>
              <a:t>business </a:t>
            </a:r>
            <a:r>
              <a:rPr lang="en-US" dirty="0" smtClean="0"/>
              <a:t>decision.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914400"/>
            <a:ext cx="8229600" cy="4389120"/>
          </a:xfrm>
        </p:spPr>
        <p:txBody>
          <a:bodyPr/>
          <a:lstStyle/>
          <a:p>
            <a:r>
              <a:rPr lang="en-US" sz="2400" dirty="0" smtClean="0"/>
              <a:t>Identified high-value (P0) and low-value (P2) customer </a:t>
            </a:r>
            <a:r>
              <a:rPr lang="en-US" sz="2400" dirty="0" smtClean="0"/>
              <a:t>groups</a:t>
            </a:r>
            <a:endParaRPr lang="en-US" sz="2400" dirty="0" smtClean="0"/>
          </a:p>
          <a:p>
            <a:r>
              <a:rPr lang="en-US" sz="2400" dirty="0" smtClean="0"/>
              <a:t>Conducted churn analysis using response variable (0 = inactive, 1 = active)</a:t>
            </a:r>
          </a:p>
          <a:p>
            <a:endParaRPr lang="en-US" dirty="0"/>
          </a:p>
        </p:txBody>
      </p:sp>
      <p:pic>
        <p:nvPicPr>
          <p:cNvPr id="4" name="Picture 3" descr="ch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32" y="2560320"/>
            <a:ext cx="7076050" cy="3505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+mn-lt"/>
              </a:rPr>
              <a:t>Phase 4: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17" y="1935480"/>
            <a:ext cx="8229600" cy="4389120"/>
          </a:xfrm>
        </p:spPr>
        <p:txBody>
          <a:bodyPr>
            <a:normAutofit/>
          </a:bodyPr>
          <a:lstStyle/>
          <a:p>
            <a:endParaRPr sz="2400"/>
          </a:p>
          <a:p>
            <a:pPr>
              <a:defRPr sz="1800"/>
            </a:pPr>
            <a:r>
              <a:rPr sz="2400"/>
              <a:t>Excel summary </a:t>
            </a:r>
            <a:r>
              <a:rPr sz="2400" smtClean="0"/>
              <a:t>tables</a:t>
            </a:r>
            <a:endParaRPr lang="en-US" sz="2400" dirty="0" smtClean="0"/>
          </a:p>
          <a:p>
            <a:pPr>
              <a:buNone/>
              <a:defRPr sz="1800"/>
            </a:pPr>
            <a:endParaRPr sz="2400"/>
          </a:p>
          <a:p>
            <a:pPr>
              <a:defRPr sz="1800"/>
            </a:pPr>
            <a:r>
              <a:rPr sz="2400"/>
              <a:t>Excel dashboard with charts &amp; </a:t>
            </a:r>
            <a:r>
              <a:rPr sz="2400" smtClean="0"/>
              <a:t>KPIs</a:t>
            </a:r>
            <a:endParaRPr lang="en-US" sz="2400" dirty="0" smtClean="0"/>
          </a:p>
          <a:p>
            <a:pPr>
              <a:buNone/>
              <a:defRPr sz="1800"/>
            </a:pPr>
            <a:endParaRPr sz="2400"/>
          </a:p>
          <a:p>
            <a:pPr>
              <a:defRPr sz="1800"/>
            </a:pPr>
            <a:r>
              <a:rPr sz="2400"/>
              <a:t>Python-generated charts </a:t>
            </a:r>
            <a:r>
              <a:rPr sz="2400" smtClean="0"/>
              <a:t>included</a:t>
            </a:r>
            <a:endParaRPr lang="en-US" sz="2400" dirty="0" smtClean="0"/>
          </a:p>
          <a:p>
            <a:pPr>
              <a:buNone/>
              <a:defRPr sz="1800"/>
            </a:pPr>
            <a:endParaRPr sz="2400"/>
          </a:p>
          <a:p>
            <a:pPr>
              <a:defRPr sz="1800"/>
            </a:pPr>
            <a:r>
              <a:rPr sz="2400"/>
              <a:t>All analysis results compiled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686" y="362243"/>
            <a:ext cx="8229600" cy="1143000"/>
          </a:xfrm>
        </p:spPr>
        <p:txBody>
          <a:bodyPr>
            <a:normAutofit/>
          </a:bodyPr>
          <a:lstStyle/>
          <a:p>
            <a:r>
              <a:rPr sz="4000">
                <a:latin typeface="+mn-lt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35480"/>
            <a:ext cx="7624689" cy="4389120"/>
          </a:xfrm>
        </p:spPr>
        <p:txBody>
          <a:bodyPr/>
          <a:lstStyle/>
          <a:p>
            <a:endParaRPr/>
          </a:p>
          <a:p>
            <a:pPr>
              <a:defRPr sz="1800"/>
            </a:pPr>
            <a:endParaRPr lang="en-US" sz="2400" dirty="0" smtClean="0"/>
          </a:p>
          <a:p>
            <a:pPr>
              <a:buNone/>
              <a:defRPr sz="1800"/>
            </a:pPr>
            <a:endParaRPr sz="240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81686" y="1612314"/>
            <a:ext cx="6414868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 smtClean="0">
                <a:cs typeface="Arial" charset="0"/>
              </a:rPr>
              <a:t> </a:t>
            </a:r>
            <a:r>
              <a:rPr lang="en-US" sz="2000" dirty="0" smtClean="0">
                <a:cs typeface="Arial" charset="0"/>
              </a:rPr>
              <a:t> 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ighest sales months: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February, October, January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smtClean="0">
                <a:cs typeface="Arial" charset="0"/>
              </a:rPr>
              <a:t> </a:t>
            </a:r>
            <a:r>
              <a:rPr lang="en-US" sz="2000" dirty="0" smtClean="0">
                <a:cs typeface="Arial" charset="0"/>
              </a:rPr>
              <a:t> 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eak monthly revenue ≈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726,775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smtClean="0"/>
              <a:t>  </a:t>
            </a:r>
            <a:r>
              <a:rPr lang="en-US" sz="2000" dirty="0" smtClean="0"/>
              <a:t>S</a:t>
            </a:r>
            <a:r>
              <a:rPr lang="en-US" sz="2000" dirty="0" smtClean="0"/>
              <a:t>ales </a:t>
            </a:r>
            <a:r>
              <a:rPr lang="en-US" sz="2000" dirty="0" smtClean="0"/>
              <a:t>show seasonal variation over time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7" name="Picture 6" descr="t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86" y="2822136"/>
            <a:ext cx="7174523" cy="31792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81686" y="6001434"/>
            <a:ext cx="64148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line chart highlights seasonal sales patterns with consistent peaks in specific month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ra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346" y="2025748"/>
            <a:ext cx="6949441" cy="4022967"/>
          </a:xfrm>
        </p:spPr>
      </p:pic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942535" y="956994"/>
            <a:ext cx="613351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942535" y="956994"/>
            <a:ext cx="601658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Customer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CS4424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generated the highest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Few customers contribute significantly to total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1347" y="6048715"/>
            <a:ext cx="6738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small group of customers contributes a disproportionately high share of revenue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182" y="704088"/>
            <a:ext cx="8229600" cy="1143000"/>
          </a:xfrm>
        </p:spPr>
        <p:txBody>
          <a:bodyPr/>
          <a:lstStyle/>
          <a:p>
            <a:r>
              <a:rPr>
                <a:latin typeface="+mn-lt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61181" y="2250830"/>
            <a:ext cx="742774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 </a:t>
            </a:r>
            <a:r>
              <a:rPr lang="en-US" sz="2400" dirty="0" smtClean="0"/>
              <a:t>The </a:t>
            </a:r>
            <a:r>
              <a:rPr lang="en-US" sz="2400" dirty="0" smtClean="0"/>
              <a:t>project demonstrates end-to-end data analytics </a:t>
            </a:r>
            <a:r>
              <a:rPr lang="en-US" sz="2400" dirty="0" smtClean="0"/>
              <a:t>workflow</a:t>
            </a:r>
          </a:p>
          <a:p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 Combines </a:t>
            </a:r>
            <a:r>
              <a:rPr lang="en-US" sz="2400" dirty="0" smtClean="0"/>
              <a:t>SQL, Python, and Excel for business </a:t>
            </a:r>
            <a:r>
              <a:rPr lang="en-US" sz="2400" dirty="0" smtClean="0"/>
              <a:t>decision- making</a:t>
            </a:r>
          </a:p>
          <a:p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 Scalable </a:t>
            </a:r>
            <a:r>
              <a:rPr lang="en-US" sz="2400" dirty="0" smtClean="0"/>
              <a:t>framework applicable to future retail </a:t>
            </a:r>
            <a:r>
              <a:rPr lang="en-US" sz="2400" dirty="0" smtClean="0"/>
              <a:t>datasets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96815"/>
            <a:ext cx="9938824" cy="1143000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                </a:t>
            </a:r>
            <a:r>
              <a:rPr smtClean="0">
                <a:latin typeface="+mn-lt"/>
              </a:rPr>
              <a:t>Than</a:t>
            </a:r>
            <a:r>
              <a:rPr lang="en-US" dirty="0" smtClean="0">
                <a:latin typeface="+mn-lt"/>
              </a:rPr>
              <a:t>k You</a:t>
            </a:r>
            <a:endParaRPr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553" y="2254817"/>
            <a:ext cx="8229600" cy="4389120"/>
          </a:xfrm>
        </p:spPr>
        <p:txBody>
          <a:bodyPr>
            <a:normAutofit/>
          </a:bodyPr>
          <a:lstStyle/>
          <a:p>
            <a:pPr>
              <a:buNone/>
            </a:pPr>
            <a:endParaRPr sz="2400"/>
          </a:p>
          <a:p>
            <a:r>
              <a:rPr sz="2400"/>
              <a:t>Vaishnavi </a:t>
            </a:r>
            <a:r>
              <a:rPr sz="2400" smtClean="0"/>
              <a:t>Desale</a:t>
            </a:r>
            <a:endParaRPr lang="en-US" sz="2400" dirty="0" smtClean="0"/>
          </a:p>
          <a:p>
            <a:r>
              <a:rPr lang="en-US" sz="2400" dirty="0" smtClean="0"/>
              <a:t>North </a:t>
            </a:r>
            <a:r>
              <a:rPr lang="en-US" sz="2400" dirty="0" err="1" smtClean="0"/>
              <a:t>Maharastrian</a:t>
            </a:r>
            <a:r>
              <a:rPr lang="en-US" sz="2400" dirty="0" smtClean="0"/>
              <a:t> University</a:t>
            </a:r>
            <a:endParaRPr sz="2400"/>
          </a:p>
          <a:p>
            <a:r>
              <a:rPr sz="2400"/>
              <a:t>Email: vaishnavidesale421@gmail.com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290</TotalTime>
  <Words>472</Words>
  <Application>Microsoft Macintosh PowerPoint</Application>
  <PresentationFormat>On-screen Show (4:3)</PresentationFormat>
  <Paragraphs>100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Sales Analysis and Reporting for a Retail Chain</vt:lpstr>
      <vt:lpstr>Project Overview</vt:lpstr>
      <vt:lpstr>Data Source</vt:lpstr>
      <vt:lpstr>Phase 1: Data Collection &amp; Database Setup</vt:lpstr>
      <vt:lpstr>Phase 2: Data Cleaning &amp; Preparation</vt:lpstr>
      <vt:lpstr>Phase 3: Data Analysis</vt:lpstr>
      <vt:lpstr>Slide 7</vt:lpstr>
      <vt:lpstr>Advanced Analytics</vt:lpstr>
      <vt:lpstr>Slide 9</vt:lpstr>
      <vt:lpstr>Phase 4: Reporting</vt:lpstr>
      <vt:lpstr>Key Findings</vt:lpstr>
      <vt:lpstr>Slide 12</vt:lpstr>
      <vt:lpstr>Conclusion</vt:lpstr>
      <vt:lpstr>                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and Reporting for a Retail Chain</dc:title>
  <dc:creator>shree</dc:creator>
  <dc:description>generated using python-pptx</dc:description>
  <cp:lastModifiedBy>shree</cp:lastModifiedBy>
  <cp:revision>24</cp:revision>
  <dcterms:created xsi:type="dcterms:W3CDTF">2013-01-27T09:14:16Z</dcterms:created>
  <dcterms:modified xsi:type="dcterms:W3CDTF">2026-01-06T09:29:45Z</dcterms:modified>
</cp:coreProperties>
</file>